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8"/>
  </p:notesMasterIdLst>
  <p:sldIdLst>
    <p:sldId id="256" r:id="rId7"/>
    <p:sldId id="257" r:id="rId9"/>
    <p:sldId id="258" r:id="rId10"/>
    <p:sldId id="262" r:id="rId11"/>
    <p:sldId id="263" r:id="rId12"/>
    <p:sldId id="264" r:id="rId13"/>
    <p:sldId id="265" r:id="rId14"/>
    <p:sldId id="274" r:id="rId15"/>
    <p:sldId id="267" r:id="rId16"/>
    <p:sldId id="275" r:id="rId17"/>
    <p:sldId id="270" r:id="rId18"/>
    <p:sldId id="278" r:id="rId19"/>
    <p:sldId id="279" r:id="rId20"/>
    <p:sldId id="271" r:id="rId21"/>
    <p:sldId id="272" r:id="rId22"/>
    <p:sldId id="27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43" userDrawn="1">
          <p15:clr>
            <a:srgbClr val="747775"/>
          </p15:clr>
        </p15:guide>
        <p15:guide id="2" pos="296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43"/>
        <p:guide pos="29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，同学们，大家上午好。我是唐颢，我的毕业设计题目是《基于代码执行反馈的代码生成与自修复系统的设计与实现》。在黄江平老师的悉心指导下，我完成了本次设计。接下来，我将从研究背景、系统设计、实现、测试以及总结展望几个方面，向各位老师汇报我的研究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将分为五个部分。首先，我会介绍本课题的研究背景与意义，阐述为什么要做这个研究。其次，将详细介绍系统的整体设计，包括架构、流程和关键模块。第三部分是系统的具体实现细节。第四部分展示系统的测试过程与结果。最后，对本次工作进行总结并对未来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研究背景。近年来，大语言模型在代码生成方面取得了巨大进展，开发者可以通过自然语言快速获取代码。然而，一个核心挑战也随之而来：模型生成的代码往往不可靠，存在各种错误，导致无法直接运行。这使得“代码能否真正运行”成为了技术落地的关键瓶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系统设计。我们的设计目标是提供一个可视化的工作台，并实现执行反馈的结构化和修复过程的可追溯。为此，我们设计了一个分层架构，如右图所示，从下至上分别是数据持久层、执行沙箱层、智能代理层、业务服务层、后端接口层和前端表现层，各层职责分明，协同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业务流程如右图所示，它是一个“生成-执行-反馈-分析-修复”的闭环。用户创建任务后，系统会生成初始代码并运行测试。如果测试失败，系统将自动进入修复循环，分析错误、生成修复计划、产生新代码版本，并再次测试。这个过程会重复，直到测试通过或达到预设的终止条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流程，我们设计了多个关键模块。包括负责任务管理的入口模块，负责代码生成的gen_agent，负责安全执行和反馈的Runner和fb_svc，以及用于采集运行轨迹的模块。其中，错误分析与修复计划模块是系统的智能核心，它驱动自动修复模块工作。最后，历史经验与回滚模块保证了系统的稳定性和学习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在数据库设计方面，我们的核心思想是“过程记录”，确保每一步都可追溯。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列出了我们设计的8张核心数据表。其中，`cf_task`作为任务主表串联起所有信息；`cf_ver`和`cf_plan`记录代码版本和修复计划，明确“是什么”和“怎么做”；`cf_case`、`cf_run`、`cf_case_res`、`cf_trace`四张表则构建了完整的测试执行与日志体系，详细记录了从用例到批次、从结果到轨迹的全过程；最后，`cf_lesson`将每一次修复转化为可复用的知识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右侧的ER关系图直观展示了这八张表之间的逻辑关系，它们共同构成了系统稳定运行的基石，为后续的故障分析、流程优化提供了详实的数据支持。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第三部分是系统实现。前端我们采用了Vue3生态，包括Vite、Element Plus等，构建了现代化的用户界面。后端则基于FastAPI框架，搭配MySQL数据库和SQLAlchemy ORM。代码执行环境支持本地和Docker隔离两种方式，并设计了灵活的模型接入层，支持多种大模型。整个工程结构清晰，易于维护和扩展。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核心功能实现上，前端的工作台是用户交互的核心，它集成了任务输入、代码演进展示、执行反馈和修复计划查看等功能，旨在提供流畅、透明的开发体验。后端则通过一系列解耦的微服务函数驱动整个自动修复流程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例如，auto_repair函数是流程的“大脑”，负责控制整个多轮迭代循环；execute函数作为“执行者”，在隔离的沙箱环境中运行代码并获取反馈；create_plan和fix_code函数作为“修复者”，分别负责分析根因和生成新代码版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此外，我们还引入了回滚判断机制（judge函数），以防止AI修复过程中引入新的错误，确保系统的稳定性。通过前后端紧密配合，实现了代码自动修复的完整闭环。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核心功能实现上，前端的工作台是用户交互的核心，它集成了任务输入、代码演进展示、执行反馈和修复计划查看等功能，旨在提供流畅、透明的开发体验。后端则通过一系列解耦的微服务函数驱动整个自动修复流程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例如，auto_repair函数是流程的“大脑”，负责控制整个多轮迭代循环；execute函数作为“执行者”，在隔离的沙箱环境中运行代码并获取反馈；create_plan和fix_code函数作为“修复者”，分别负责分析根因和生成新代码版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此外，我们还引入了回滚判断机制（judge函数），以防止AI修复过程中引入新的错误，确保系统的稳定性。通过前后端紧密配合，实现了代码自动修复的完整闭环。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为了评估系统的实际修复能力，我们进行了实验评估。通过在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三个</a:t>
            </a:r>
            <a:r>
              <a:rPr lang="en-US" sz="1400" b="0" i="0" u="none" strike="noStrike">
                <a:solidFill>
                  <a:srgbClr val="000000"/>
                </a:solidFill>
              </a:rPr>
              <a:t>预置数据集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（函数级、类文件级、文件级）</a:t>
            </a:r>
            <a:r>
              <a:rPr lang="en-US" sz="1400" b="0" i="0" u="none" strike="noStrike">
                <a:solidFill>
                  <a:srgbClr val="000000"/>
                </a:solidFill>
              </a:rPr>
              <a:t>上运行批量任务，我们统计了初始通过率、最终通过率、平均修复轮次等关键指标。实验结果显示，经过系统的自动修复，代码生成任务的成功率得到了显著提升，这有力地验证了我们所提出的执行反馈驱动修复流程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为了评估系统的实际修复能力，我们进行了实验评估。通过在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三个</a:t>
            </a:r>
            <a:r>
              <a:rPr lang="en-US" sz="1400" b="0" i="0" u="none" strike="noStrike">
                <a:solidFill>
                  <a:srgbClr val="000000"/>
                </a:solidFill>
              </a:rPr>
              <a:t>预置数据集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（函数级、类文件级、文件级）</a:t>
            </a:r>
            <a:r>
              <a:rPr lang="en-US" sz="1400" b="0" i="0" u="none" strike="noStrike">
                <a:solidFill>
                  <a:srgbClr val="000000"/>
                </a:solidFill>
              </a:rPr>
              <a:t>上运行批量任务，我们统计了初始通过率、最终通过率、平均修复轮次等关键指标。实验结果显示，经过系统的自动修复，代码生成任务的成功率得到了显著提升，这有力地验证了我们所提出的执行反馈驱动修复流程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为了评估系统的实际修复能力，我们进行了实验评估。通过在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三个</a:t>
            </a:r>
            <a:r>
              <a:rPr lang="en-US" sz="1400" b="0" i="0" u="none" strike="noStrike">
                <a:solidFill>
                  <a:srgbClr val="000000"/>
                </a:solidFill>
              </a:rPr>
              <a:t>预置数据集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（函数级、类文件级、文件级）</a:t>
            </a:r>
            <a:r>
              <a:rPr lang="en-US" sz="1400" b="0" i="0" u="none" strike="noStrike">
                <a:solidFill>
                  <a:srgbClr val="000000"/>
                </a:solidFill>
              </a:rPr>
              <a:t>上运行批量任务，我们统计了初始通过率、最终通过率、平均修复轮次等关键指标。实验结果显示，经过系统的自动修复，代码生成任务的成功率得到了显著提升，这有力地验证了我们所提出的执行反馈驱动修复流程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的工作进行总结。本次毕业设计，我设计并实现了一个完整的代码生成与自修复系统。核心贡献在于构建了基于执行反馈的修复闭环，将生成结果从文本提升到了可验证的程序。同时，系统提供了可追溯的修复过程，并通过实验验证了核心技术路线的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系统也存在一些问题，比如对底层模型能力的依赖，以及在处理复杂错误时的局限性。展望未来，我们可以从优化修复策略、增强代码理解能力、扩展支持范围和提升系统性能等几个方面进行改进，让系统变得更加强大和实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要衷心感谢我的指导老师黄江平讲师，感谢他在整个毕业设计过程中的悉心指导。同时，感谢各位评委老师在百忙之中抽出时间参与我的答辩，并提出宝贵意见。也感谢所有帮助过我的老师和同学们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.png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image" Target="../media/image6.png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.png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.png"/><Relationship Id="rId12" Type="http://schemas.openxmlformats.org/officeDocument/2006/relationships/image" Target="../media/image11.png"/><Relationship Id="rId11" Type="http://schemas.openxmlformats.org/officeDocument/2006/relationships/tags" Target="../tags/tag34.xml"/><Relationship Id="rId10" Type="http://schemas.openxmlformats.org/officeDocument/2006/relationships/image" Target="../media/image10.png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36.xml"/><Relationship Id="rId19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3.png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2.png"/><Relationship Id="rId2" Type="http://schemas.openxmlformats.org/officeDocument/2006/relationships/tags" Target="../tags/tag53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5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2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7.png"/><Relationship Id="rId7" Type="http://schemas.openxmlformats.org/officeDocument/2006/relationships/tags" Target="../tags/tag67.xml"/><Relationship Id="rId6" Type="http://schemas.openxmlformats.org/officeDocument/2006/relationships/image" Target="../media/image16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6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2.png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263140"/>
            <a:ext cx="11176000" cy="1778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基于代码执行反馈的代码生成与自修复系统的设计与实现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4937125"/>
            <a:ext cx="1117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答辩人：唐颢   |   指导教师：黄江平 讲师   |   答辩日期：2026年5月</a:t>
            </a:r>
            <a:endParaRPr lang="en-US" sz="1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9540"/>
            <a:ext cx="1727200" cy="11442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380" y="129540"/>
            <a:ext cx="1023620" cy="1017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4"/>
          <p:cNvSpPr/>
          <p:nvPr>
            <p:custDataLst>
              <p:tags r:id="rId2"/>
            </p:custDataLst>
          </p:nvPr>
        </p:nvSpPr>
        <p:spPr>
          <a:xfrm>
            <a:off x="6125210" y="782320"/>
            <a:ext cx="4483735" cy="5612130"/>
          </a:xfrm>
          <a:prstGeom prst="roundRect">
            <a:avLst>
              <a:gd name="adj" fmla="val 4615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127250" y="2450465"/>
            <a:ext cx="1594485" cy="16529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4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6644005" y="1149985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01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7406640" y="1410335"/>
            <a:ext cx="230886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研究背景与意义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618605" y="19304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372350" y="2190750"/>
            <a:ext cx="221615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系统设计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6610350" y="2710815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03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7380605" y="2971165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系统实现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6621145" y="428117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05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7381875" y="4471670"/>
            <a:ext cx="235077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系统测试与结果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AutoShape 13"/>
          <p:cNvSpPr/>
          <p:nvPr>
            <p:custDataLst>
              <p:tags r:id="rId11"/>
            </p:custDataLst>
          </p:nvPr>
        </p:nvSpPr>
        <p:spPr>
          <a:xfrm>
            <a:off x="6602095" y="3461385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04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AutoShape 14"/>
          <p:cNvSpPr/>
          <p:nvPr>
            <p:custDataLst>
              <p:tags r:id="rId12"/>
            </p:custDataLst>
          </p:nvPr>
        </p:nvSpPr>
        <p:spPr>
          <a:xfrm>
            <a:off x="7372350" y="3721735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问题与解决方案</a:t>
            </a:r>
            <a:endParaRPr lang="zh-CN" altLang="en-US" sz="2000" b="1" i="0" u="none" strike="noStrike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7"/>
          <p:cNvSpPr/>
          <p:nvPr>
            <p:custDataLst>
              <p:tags r:id="rId13"/>
            </p:custDataLst>
          </p:nvPr>
        </p:nvSpPr>
        <p:spPr>
          <a:xfrm>
            <a:off x="6644005" y="5100955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06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AutoShape 18"/>
          <p:cNvSpPr/>
          <p:nvPr>
            <p:custDataLst>
              <p:tags r:id="rId14"/>
            </p:custDataLst>
          </p:nvPr>
        </p:nvSpPr>
        <p:spPr>
          <a:xfrm>
            <a:off x="7404735" y="5291455"/>
            <a:ext cx="235077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总结与改进</a:t>
            </a:r>
            <a:endParaRPr lang="zh-CN" altLang="en-US" sz="2000" b="1" i="0" u="none" strike="noStrike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000" y="129540"/>
            <a:ext cx="1727200" cy="1144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>
              <a:alpha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01</a:t>
            </a: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研究背景 - 大模型代码生成的现状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8215" y="1879600"/>
            <a:ext cx="287718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核心观点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大语言模型</a:t>
            </a:r>
            <a:r>
              <a:rPr lang="en-US" sz="1400" b="0" i="0" u="none" strike="noStrike">
                <a:solidFill>
                  <a:srgbClr val="1F2937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（LLM）</a:t>
            </a:r>
            <a:r>
              <a:rPr lang="en-US" sz="1400" b="0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已在代码生成领域展现出强大的生成与理解能力。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33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用户只需通过简单的</a:t>
            </a:r>
            <a:r>
              <a:rPr lang="en-US" sz="1400" b="1" i="0" u="none" strike="noStrike">
                <a:solidFill>
                  <a:srgbClr val="00529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自然语言描述需求</a:t>
            </a:r>
            <a:r>
              <a:rPr lang="en-US" sz="1400" b="0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，即可快速获得符合逻辑的代码片段</a:t>
            </a:r>
            <a:r>
              <a:rPr lang="zh-CN" altLang="en-US" sz="1400" b="0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。</a:t>
            </a:r>
            <a:endParaRPr lang="zh-CN" altLang="en-US" sz="1400" b="0" i="0" u="none" strike="noStrike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2015" y="1879600"/>
            <a:ext cx="282638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关键现象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● 生成能力升级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从简单的函数片段扩展到完整的类定义，甚至是包含多个文件的小型程序。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2000"/>
              </a:spcBef>
            </a:pPr>
            <a:r>
              <a:rPr lang="en-US" sz="14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● 功能深度进化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工具已超越代码补全的基础功能，向代码逻辑修复、潜在错误分析及重构建议等高阶任务发展。</a:t>
            </a:r>
            <a:endParaRPr lang="en-US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509000" y="1879600"/>
            <a:ext cx="2692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问题</a:t>
            </a:r>
            <a:r>
              <a:rPr lang="en-US" sz="20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与结论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266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当前最大痛点：生成代码不可靠</a:t>
            </a:r>
            <a:endParaRPr lang="en-US" sz="11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边界条件处理缺失</a:t>
            </a:r>
            <a:br>
              <a:rPr lang="en-US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返回值格式不匹配</a:t>
            </a:r>
            <a:br>
              <a:rPr lang="en-US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类内部状态维护错误</a:t>
            </a:r>
            <a:br>
              <a:rPr lang="en-US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无法通过单元测试用例</a:t>
            </a:r>
            <a:endParaRPr lang="en-US" b="0" i="0" u="none" strike="noStrike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82000" y="4699000"/>
            <a:ext cx="2794000" cy="1270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509000" y="4889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“代码能不能真正运行通过”</a:t>
            </a:r>
            <a:br>
              <a:rPr lang="en-US" sz="15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已成为技术落地的关键瓶颈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4064000" y="3685540"/>
            <a:ext cx="403860" cy="30226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747635" y="3685540"/>
            <a:ext cx="403860" cy="30226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系统设计 - 整体架构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5867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460500" y="1841500"/>
            <a:ext cx="3810000" cy="343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设计目标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提供可视化的代码生成与自修复工作台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</a:t>
            </a:r>
            <a:r>
              <a:rPr lang="zh-CN" alt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展示</a:t>
            </a:r>
            <a:r>
              <a:rPr 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结构化的反馈数据</a:t>
            </a:r>
            <a:endParaRPr lang="en-US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</a:t>
            </a:r>
            <a:r>
              <a:rPr lang="zh-CN" alt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展示</a:t>
            </a:r>
            <a:r>
              <a:rPr 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完整记录每一轮修复过程</a:t>
            </a:r>
            <a:r>
              <a:rPr lang="zh-CN" altLang="en-US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。</a:t>
            </a:r>
            <a:endParaRPr lang="zh-CN" altLang="en-US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460500" y="438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系统分层架构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5016500"/>
            <a:ext cx="234696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前端表现层：</a:t>
            </a: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Vue3</a:t>
            </a:r>
            <a:r>
              <a:rPr lang="en-US" sz="1200" b="0" i="0" u="none" strike="noStrike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交互界面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业务服务层：</a:t>
            </a:r>
            <a:r>
              <a:rPr lang="en-US" sz="1200" b="0" i="0" u="none" strike="noStrike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核心逻辑编排与调度</a:t>
            </a:r>
            <a:endParaRPr lang="en-US" sz="1200" b="0" i="0" u="none" strike="noStrike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执行沙箱层：</a:t>
            </a:r>
            <a:r>
              <a:rPr lang="en-US" sz="1200" b="0" i="0" u="none" strike="noStrike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安全隔离的代码运行环境</a:t>
            </a:r>
            <a:endParaRPr lang="en-US" sz="1200" b="0" i="0" u="none" strike="noStrike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29000" y="4915535"/>
            <a:ext cx="2376805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后端接口层：</a:t>
            </a: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FastAPI</a:t>
            </a:r>
            <a:r>
              <a:rPr lang="en-US" sz="1200" b="0" i="0" u="none" strike="noStrike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高性能接口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智能代理层：</a:t>
            </a:r>
            <a:r>
              <a:rPr lang="en-US" sz="1200" b="0" i="0" u="none" strike="noStrike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封装大模型能力调用</a:t>
            </a:r>
            <a:endParaRPr lang="en-US" sz="1200" b="0" i="0" u="none" strike="noStrike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数据持久层：</a:t>
            </a: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MySQL</a:t>
            </a:r>
            <a:r>
              <a:rPr lang="en-US" sz="1200" b="0" i="0" u="none" strike="noStrike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数据存储</a:t>
            </a:r>
            <a:endParaRPr lang="en-US" sz="1200" b="0" i="0" u="none" strike="noStrike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572250" y="1651000"/>
            <a:ext cx="5207000" cy="4826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72250" y="599313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图 1：</a:t>
            </a:r>
            <a:r>
              <a:rPr lang="zh-CN" alt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系统整体架构图</a:t>
            </a:r>
            <a:endParaRPr lang="zh-CN" altLang="en-US" b="1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3194050" y="3710305"/>
            <a:ext cx="342265" cy="4857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5941695" y="3709670"/>
            <a:ext cx="630555" cy="4864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  <p:pic>
        <p:nvPicPr>
          <p:cNvPr id="16" name="图片 4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165" y="1840865"/>
            <a:ext cx="4998720" cy="38011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系统设计 - 核心业务流程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14300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88390" y="1676400"/>
            <a:ext cx="475361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流程闭环核心逻辑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F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系统围绕“生成 → 执行 → 反馈 → 分析 → 修复”的全链路闭环持续迭代优化代码。</a:t>
            </a:r>
            <a:endParaRPr lang="en-US" sz="1400" b="0" i="0" u="none" strike="noStrike">
              <a:solidFill>
                <a:srgbClr val="E6F0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762000" y="2921000"/>
            <a:ext cx="2476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889000" y="3048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01. 创建任务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  <a:defRPr/>
            </a:pP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3619500" y="2921000"/>
            <a:ext cx="2476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3746500" y="3048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02. 生成初始代码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200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762000" y="4826000"/>
            <a:ext cx="2476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3619500" y="4826000"/>
            <a:ext cx="2476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889000" y="4953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04. 自动修复与终止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200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537325" y="508000"/>
            <a:ext cx="4892675" cy="6120765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图片 12" descr="图4-2 自动修复业务流程图.drawi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9290" y="634365"/>
            <a:ext cx="3741420" cy="546989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350000" y="610425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图 2：</a:t>
            </a:r>
            <a:r>
              <a:rPr lang="zh-CN" alt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自动修复流程图</a:t>
            </a:r>
            <a:endParaRPr lang="zh-CN" altLang="en-US" b="1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6" name="AutoShape 12"/>
          <p:cNvSpPr/>
          <p:nvPr>
            <p:custDataLst>
              <p:tags r:id="rId9"/>
            </p:custDataLst>
          </p:nvPr>
        </p:nvSpPr>
        <p:spPr>
          <a:xfrm>
            <a:off x="3776980" y="4963795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03. 执行与结果判定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  <a:defRPr/>
            </a:pPr>
            <a:endParaRPr lang="en-US" sz="1200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3239135" y="3595370"/>
            <a:ext cx="379730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 rot="10800000">
            <a:off x="3254375" y="5416550"/>
            <a:ext cx="379730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 rot="5400000">
            <a:off x="4772025" y="4589780"/>
            <a:ext cx="250190" cy="2247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系统设计 - 关键模块设计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254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1"/>
            </p:custDataLst>
          </p:nvPr>
        </p:nvSpPr>
        <p:spPr>
          <a:xfrm>
            <a:off x="952500" y="4953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2"/>
            </p:custDataLst>
          </p:nvPr>
        </p:nvSpPr>
        <p:spPr>
          <a:xfrm>
            <a:off x="6667500" y="4953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AutoShape 38"/>
          <p:cNvSpPr/>
          <p:nvPr>
            <p:custDataLst>
              <p:tags r:id="rId3"/>
            </p:custDataLst>
          </p:nvPr>
        </p:nvSpPr>
        <p:spPr>
          <a:xfrm>
            <a:off x="9525000" y="4953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3" name="图片 42"/>
          <p:cNvPicPr/>
          <p:nvPr/>
        </p:nvPicPr>
        <p:blipFill>
          <a:blip r:embed="rId4"/>
          <a:stretch>
            <a:fillRect/>
          </a:stretch>
        </p:blipFill>
        <p:spPr>
          <a:xfrm>
            <a:off x="6893560" y="2194560"/>
            <a:ext cx="4942840" cy="29794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90" y="2092960"/>
            <a:ext cx="6417310" cy="318198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 系统设计 - 数据库设计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490345" y="1552575"/>
            <a:ext cx="4432300" cy="1410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400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032000"/>
            <a:ext cx="1206500" cy="1397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25500" y="2222500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cf_task</a:t>
            </a:r>
            <a:endParaRPr lang="en-US" sz="1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任务主表</a:t>
            </a:r>
            <a:br>
              <a:rPr lang="en-US" sz="16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endParaRPr lang="en-US" sz="11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159000" y="2032000"/>
            <a:ext cx="1206500" cy="1397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222500" y="2222500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cf_ver</a:t>
            </a:r>
            <a:endParaRPr lang="en-US" sz="1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代码版本表</a:t>
            </a:r>
            <a:b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endParaRPr lang="en-US" sz="11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556000" y="2032000"/>
            <a:ext cx="1206500" cy="1397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19500" y="2222500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cf_case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测试用例表</a:t>
            </a:r>
            <a:b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endParaRPr lang="en-US" sz="11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889500" y="2032000"/>
            <a:ext cx="1206500" cy="1397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953000" y="2222500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cf_run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执行记录表</a:t>
            </a:r>
            <a:b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endParaRPr lang="en-US" sz="11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3933825"/>
            <a:ext cx="1206500" cy="1397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5500" y="4124325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cf_case_res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单用例结果表</a:t>
            </a:r>
            <a:b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endParaRPr lang="en-US" sz="11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159000" y="3933825"/>
            <a:ext cx="1206500" cy="1397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2222500" y="4124325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cf_trace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运行轨迹表</a:t>
            </a:r>
            <a:b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endParaRPr lang="en-US" sz="11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556000" y="3933825"/>
            <a:ext cx="1206500" cy="1397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619500" y="4124325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cf_plan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修复计划表</a:t>
            </a:r>
            <a:b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endParaRPr lang="en-US" sz="11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889500" y="3933825"/>
            <a:ext cx="1206500" cy="1397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953000" y="4124325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cf_lesson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历史经验表</a:t>
            </a:r>
            <a:b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</a:br>
            <a:endParaRPr lang="en-US" sz="11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678295" y="1778000"/>
            <a:ext cx="5080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78295" y="558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图 1：核心数据表关系 (ER Diagram)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6590" y="1888490"/>
            <a:ext cx="4423410" cy="36995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右箭头 1"/>
          <p:cNvSpPr/>
          <p:nvPr/>
        </p:nvSpPr>
        <p:spPr>
          <a:xfrm>
            <a:off x="6096000" y="3442335"/>
            <a:ext cx="582295" cy="473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 系统实现 - 前后端技术栈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490980" y="1312545"/>
            <a:ext cx="4348480" cy="524891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201422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2776220" y="2108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前端技术栈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2268220" y="2689225"/>
            <a:ext cx="2794000" cy="1619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框架：</a:t>
            </a:r>
            <a:r>
              <a:rPr lang="en-US" sz="1400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Vue3 + Vite</a:t>
            </a:r>
            <a:endParaRPr lang="en-US" sz="1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UI</a:t>
            </a: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 库：</a:t>
            </a:r>
            <a:r>
              <a:rPr lang="en-US" sz="1400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Element Plus</a:t>
            </a:r>
            <a:endParaRPr lang="en-US" sz="1400" b="0" i="0" u="none" strike="noStrike">
              <a:solidFill>
                <a:srgbClr val="00529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Poppins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路由管理：</a:t>
            </a:r>
            <a:r>
              <a:rPr lang="en-US" sz="1400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Vue Router</a:t>
            </a:r>
            <a:endParaRPr lang="en-US" sz="1400" b="0" i="0" u="none" strike="noStrike">
              <a:solidFill>
                <a:srgbClr val="00529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Poppins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状态管理：</a:t>
            </a:r>
            <a:r>
              <a:rPr lang="en-US" sz="1400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Pinia</a:t>
            </a:r>
            <a:endParaRPr lang="en-US" sz="1400" b="0" i="0" u="none" strike="noStrike">
              <a:solidFill>
                <a:srgbClr val="00529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Poppins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HTTP</a:t>
            </a: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 请求：</a:t>
            </a:r>
            <a:r>
              <a:rPr lang="en-US" sz="1400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Axios</a:t>
            </a:r>
            <a:endParaRPr lang="en-US" sz="1400" b="0" i="0" u="none" strike="noStrike">
              <a:solidFill>
                <a:srgbClr val="00529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Poppins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541135" y="1312545"/>
            <a:ext cx="4038600" cy="524891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909435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7671435" y="2108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后端技术栈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6909435" y="2689225"/>
            <a:ext cx="3239770" cy="1410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Web</a:t>
            </a: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 框架：</a:t>
            </a:r>
            <a:r>
              <a:rPr lang="en-US" sz="1400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FastAPI</a:t>
            </a:r>
            <a:endParaRPr lang="en-US" sz="11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数据库 &amp; </a:t>
            </a:r>
            <a:r>
              <a:rPr lang="en-US" sz="1400" b="1" i="0" u="none" strike="noStrike">
                <a:solidFill>
                  <a:srgbClr val="1F2937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ORM</a:t>
            </a: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MySQL / SQLAlchemy</a:t>
            </a:r>
            <a:endParaRPr lang="en-US" sz="1400" b="0" i="0" u="none" strike="noStrike">
              <a:solidFill>
                <a:srgbClr val="00529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Poppins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代码执行环境：</a:t>
            </a:r>
            <a:r>
              <a:rPr lang="en-US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safe_exec / docker_runner</a:t>
            </a:r>
            <a:endParaRPr lang="en-US" b="0" i="0" u="none" strike="noStrike">
              <a:solidFill>
                <a:srgbClr val="00529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Poppins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大模型接入：</a:t>
            </a:r>
            <a:r>
              <a:rPr lang="en-US" b="0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Qwen / OpenAI / DeepSeek</a:t>
            </a:r>
            <a:endParaRPr lang="en-US" b="0" i="0" u="none" strike="noStrike">
              <a:solidFill>
                <a:srgbClr val="00529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Poppins"/>
            </a:endParaRPr>
          </a:p>
        </p:txBody>
      </p:sp>
      <p:pic>
        <p:nvPicPr>
          <p:cNvPr id="19" name="图片 18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014220" y="4308475"/>
            <a:ext cx="3094355" cy="1927225"/>
          </a:xfrm>
          <a:prstGeom prst="rect">
            <a:avLst/>
          </a:prstGeom>
        </p:spPr>
      </p:pic>
      <p:pic>
        <p:nvPicPr>
          <p:cNvPr id="20" name="图片 19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025640" y="4308475"/>
            <a:ext cx="3032760" cy="199834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 系统实现 - 核心功能模块实现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1879600"/>
            <a:ext cx="447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前端工作台 (</a:t>
            </a:r>
            <a:r>
              <a:rPr lang="en-US" sz="2200" b="1" i="0" u="none" strike="noStrike">
                <a:solidFill>
                  <a:srgbClr val="00529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WorkBench</a:t>
            </a:r>
            <a:r>
              <a:rPr 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8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672715"/>
            <a:ext cx="2095500" cy="15671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Poppins"/>
                <a:sym typeface="Poppins"/>
              </a:rPr>
              <a:t>任务输入区</a:t>
            </a:r>
            <a:endParaRPr lang="en-US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92500" y="2667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8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19500" y="2700020"/>
            <a:ext cx="2095500" cy="14909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Poppins"/>
                <a:sym typeface="Poppins"/>
              </a:rPr>
              <a:t>代码演进区</a:t>
            </a:r>
            <a:endParaRPr lang="en-US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8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4572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Poppins"/>
                <a:sym typeface="Poppins"/>
              </a:rPr>
              <a:t>执行反馈区</a:t>
            </a:r>
            <a:endParaRPr lang="en-US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492500" y="4445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8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619500" y="4571365"/>
            <a:ext cx="2095500" cy="1397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Poppins"/>
                <a:sym typeface="Poppins"/>
              </a:rPr>
              <a:t>修复计划区</a:t>
            </a:r>
            <a:endParaRPr lang="en-US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808470" y="1879600"/>
            <a:ext cx="426593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后端自动修复流程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2667000"/>
            <a:ext cx="50800" cy="6350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67500" y="26670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Poppins"/>
                <a:cs typeface="Times New Roman" panose="02020603050405020304" charset="0"/>
                <a:sym typeface="Poppins"/>
              </a:rPr>
              <a:t>task_svc.auto_repair()</a:t>
            </a:r>
            <a:r>
              <a:rPr lang="en-US" sz="1300" b="0" i="0" u="none" strike="noStrike">
                <a:solidFill>
                  <a:srgbClr val="374151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-</a:t>
            </a:r>
            <a:r>
              <a:rPr lang="en-US" sz="13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 </a:t>
            </a:r>
            <a:endParaRPr lang="en-US" sz="1300" b="0" i="0" u="none" strike="noStrike">
              <a:solidFill>
                <a:schemeClr val="tx1"/>
              </a:solidFill>
              <a:latin typeface="Times New Roman" panose="02020603050405020304" charset="0"/>
              <a:ea typeface="Noto Sans SC" panose="020B0200000000000000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核心驱动函数，控制多轮迭代修复的循环逻辑与终止条件。</a:t>
            </a:r>
            <a:endParaRPr 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3492500"/>
            <a:ext cx="50800" cy="6350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67500" y="34925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  <a:sym typeface="Poppins"/>
              </a:rPr>
              <a:t>run_svc.execute()</a:t>
            </a:r>
            <a:r>
              <a:rPr lang="en-US" sz="1300" b="0" i="0" u="none" strike="noStrike">
                <a:solidFill>
                  <a:srgbClr val="374151"/>
                </a:solidFill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  <a:sym typeface="Noto Sans SC" panose="020B0200000000000000" charset="-122"/>
              </a:rPr>
              <a:t>- </a:t>
            </a:r>
            <a:endParaRPr lang="en-US" sz="1300" b="0" i="0" u="none" strike="noStrike">
              <a:solidFill>
                <a:srgbClr val="374151"/>
              </a:solidFill>
              <a:latin typeface="Times New Roman" panose="02020603050405020304" charset="0"/>
              <a:ea typeface="等线" panose="0201060003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调用安全沙箱环境执行代码，捕获运行时异常并返回结构化反馈数据。</a:t>
            </a:r>
            <a:endParaRPr 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4318000"/>
            <a:ext cx="50800" cy="6350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67500" y="43180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plan_svc.create_plan() &amp; fix_svc.fix_code()</a:t>
            </a:r>
            <a:r>
              <a:rPr lang="en-US" sz="1300" b="0" i="0" u="none" strike="noStrike">
                <a:solidFill>
                  <a:srgbClr val="37415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- </a:t>
            </a:r>
            <a:endParaRPr lang="en-US" sz="1300" b="0" i="0" u="none" strike="noStrike">
              <a:solidFill>
                <a:srgbClr val="37415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前者调用分析Agent生成修复方案，后者调用修复Agent生成新代码。</a:t>
            </a:r>
            <a:endParaRPr 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0" y="5207000"/>
            <a:ext cx="50800" cy="6350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67500" y="52070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Poppins"/>
              </a:rPr>
              <a:t>rb_svc.judge()</a:t>
            </a:r>
            <a:r>
              <a:rPr lang="en-US" sz="1300" b="0" i="0" u="none" strike="noStrike">
                <a:solidFill>
                  <a:srgbClr val="37415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-</a:t>
            </a:r>
            <a:r>
              <a:rPr lang="en-US" sz="1300" b="0" i="0" u="none" strike="noStrike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 </a:t>
            </a:r>
            <a:endParaRPr lang="en-US" sz="1300" b="0" i="0" u="none" strike="noStrike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稳定性保障机制，判断代码质量是否下降，触发回滚或终止流程。</a:t>
            </a:r>
            <a:endParaRPr 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04 </a:t>
            </a:r>
            <a:r>
              <a:rPr lang="zh-CN" alt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问题与解决方案</a:t>
            </a:r>
            <a:endParaRPr lang="zh-CN" altLang="en-US" sz="3200" b="1" i="0" u="none" strike="noStrike">
              <a:solidFill>
                <a:srgbClr val="0052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5175"/>
            <a:ext cx="5207000" cy="4642485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1143000" y="2158365"/>
            <a:ext cx="4471035" cy="1399540"/>
          </a:xfrm>
          <a:prstGeom prst="roundRect">
            <a:avLst>
              <a:gd name="adj" fmla="val 6153"/>
            </a:avLst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3"/>
            </p:custDataLst>
          </p:nvPr>
        </p:nvSpPr>
        <p:spPr>
          <a:xfrm>
            <a:off x="6223000" y="2035175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143635" y="2263775"/>
            <a:ext cx="447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一、测试用例</a:t>
            </a:r>
            <a:endParaRPr lang="zh-CN" altLang="en-US" sz="2200" b="1" i="0" u="none" strike="noStrike">
              <a:solidFill>
                <a:srgbClr val="0052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64435" y="1360170"/>
            <a:ext cx="1827530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问题</a:t>
            </a:r>
            <a:endParaRPr lang="zh-CN" altLang="en-US" sz="2800"/>
          </a:p>
        </p:txBody>
      </p:sp>
      <p:sp>
        <p:nvSpPr>
          <p:cNvPr id="27" name="文本框 26"/>
          <p:cNvSpPr txBox="1"/>
          <p:nvPr/>
        </p:nvSpPr>
        <p:spPr>
          <a:xfrm>
            <a:off x="7912735" y="1360170"/>
            <a:ext cx="1827530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解决方案</a:t>
            </a:r>
            <a:endParaRPr lang="zh-CN" altLang="en-US" sz="2800"/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1343025" y="2858770"/>
            <a:ext cx="41008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</a:rPr>
              <a:t>会将所有的断言识别成一个</a:t>
            </a:r>
            <a:r>
              <a:rPr lang="zh-CN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测试块</a:t>
            </a:r>
            <a:endParaRPr lang="zh-CN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AutoShape 13"/>
          <p:cNvSpPr/>
          <p:nvPr>
            <p:custDataLst>
              <p:tags r:id="rId6"/>
            </p:custDataLst>
          </p:nvPr>
        </p:nvSpPr>
        <p:spPr>
          <a:xfrm>
            <a:off x="1142365" y="5175885"/>
            <a:ext cx="4471035" cy="1399540"/>
          </a:xfrm>
          <a:prstGeom prst="roundRect">
            <a:avLst>
              <a:gd name="adj" fmla="val 6153"/>
            </a:avLst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6"/>
          <p:cNvSpPr/>
          <p:nvPr>
            <p:custDataLst>
              <p:tags r:id="rId7"/>
            </p:custDataLst>
          </p:nvPr>
        </p:nvSpPr>
        <p:spPr>
          <a:xfrm>
            <a:off x="1143000" y="5281295"/>
            <a:ext cx="447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三、</a:t>
            </a:r>
            <a:r>
              <a:rPr lang="zh-CN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修复后代码退化</a:t>
            </a:r>
            <a:endParaRPr lang="zh-CN" sz="2200" b="1" i="0" u="none" strike="noStrike">
              <a:solidFill>
                <a:srgbClr val="0052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1342390" y="5876290"/>
            <a:ext cx="41008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在修复过程中，新版本反而通过更少的测试用例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AutoShape 13"/>
          <p:cNvSpPr/>
          <p:nvPr>
            <p:custDataLst>
              <p:tags r:id="rId9"/>
            </p:custDataLst>
          </p:nvPr>
        </p:nvSpPr>
        <p:spPr>
          <a:xfrm>
            <a:off x="6590665" y="2179955"/>
            <a:ext cx="4471035" cy="1399540"/>
          </a:xfrm>
          <a:prstGeom prst="roundRect">
            <a:avLst>
              <a:gd name="adj" fmla="val 6153"/>
            </a:avLst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6725285" y="5382260"/>
            <a:ext cx="4293870" cy="1118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通过回滚策略对通过用例数，平均得分等指标进行比对，回退到最优版本。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让后续修复尽量都从最优版本进行修复。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回退后，进行经验总结，并添加到下一步修复计划中。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8" name="AutoShape 13"/>
          <p:cNvSpPr/>
          <p:nvPr>
            <p:custDataLst>
              <p:tags r:id="rId11"/>
            </p:custDataLst>
          </p:nvPr>
        </p:nvSpPr>
        <p:spPr>
          <a:xfrm>
            <a:off x="1141730" y="3667125"/>
            <a:ext cx="4471035" cy="1399540"/>
          </a:xfrm>
          <a:prstGeom prst="roundRect">
            <a:avLst>
              <a:gd name="adj" fmla="val 6153"/>
            </a:avLst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6"/>
          <p:cNvSpPr/>
          <p:nvPr>
            <p:custDataLst>
              <p:tags r:id="rId12"/>
            </p:custDataLst>
          </p:nvPr>
        </p:nvSpPr>
        <p:spPr>
          <a:xfrm>
            <a:off x="1142365" y="3772535"/>
            <a:ext cx="447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二、类文件级以及文件级</a:t>
            </a:r>
            <a:endParaRPr lang="zh-CN" altLang="en-US" sz="2200" b="1" i="0" u="none" strike="noStrike">
              <a:solidFill>
                <a:srgbClr val="0052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3"/>
            </p:custDataLst>
          </p:nvPr>
        </p:nvSpPr>
        <p:spPr>
          <a:xfrm>
            <a:off x="1341755" y="4367530"/>
            <a:ext cx="41008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测试用例之间会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共享变量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类实例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AutoShape 13"/>
          <p:cNvSpPr/>
          <p:nvPr>
            <p:custDataLst>
              <p:tags r:id="rId14"/>
            </p:custDataLst>
          </p:nvPr>
        </p:nvSpPr>
        <p:spPr>
          <a:xfrm>
            <a:off x="6590665" y="3706495"/>
            <a:ext cx="4471035" cy="1360805"/>
          </a:xfrm>
          <a:prstGeom prst="roundRect">
            <a:avLst>
              <a:gd name="adj" fmla="val 6153"/>
            </a:avLst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文本框 43"/>
          <p:cNvSpPr txBox="1"/>
          <p:nvPr>
            <p:custDataLst>
              <p:tags r:id="rId15"/>
            </p:custDataLst>
          </p:nvPr>
        </p:nvSpPr>
        <p:spPr>
          <a:xfrm>
            <a:off x="6725285" y="2318385"/>
            <a:ext cx="4293235" cy="1028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对测试用例代码的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统一规范（如一个测试块进行空行识别等）</a:t>
            </a:r>
            <a:b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注释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等额外信息的识别进行加强（不让其识别成一个测试块）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6"/>
            </p:custDataLst>
          </p:nvPr>
        </p:nvSpPr>
        <p:spPr>
          <a:xfrm>
            <a:off x="6725285" y="3929380"/>
            <a:ext cx="4293870" cy="1002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对类文件级以及文件级的格式设置成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共享准备代码块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以及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测试块</a:t>
            </a:r>
            <a:b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在执行器上对每个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测试块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前都添加上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共享准备代码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加强对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共享准备代码块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以及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测试块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的区分</a:t>
            </a:r>
            <a:b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6" name="AutoShape 13"/>
          <p:cNvSpPr/>
          <p:nvPr>
            <p:custDataLst>
              <p:tags r:id="rId17"/>
            </p:custDataLst>
          </p:nvPr>
        </p:nvSpPr>
        <p:spPr>
          <a:xfrm>
            <a:off x="6590665" y="5166995"/>
            <a:ext cx="4471035" cy="1360805"/>
          </a:xfrm>
          <a:prstGeom prst="roundRect">
            <a:avLst>
              <a:gd name="adj" fmla="val 6153"/>
            </a:avLst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23900" y="46736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05 系统测试 - 实验评估</a:t>
            </a:r>
            <a:r>
              <a:rPr lang="zh-CN" alt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（函数级）</a:t>
            </a:r>
            <a:endParaRPr lang="zh-CN" altLang="en-US" sz="3200" b="1" i="0" u="none" strike="noStrike">
              <a:solidFill>
                <a:srgbClr val="0052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"/>
            </p:custDataLst>
          </p:nvPr>
        </p:nvSpPr>
        <p:spPr>
          <a:xfrm>
            <a:off x="883285" y="1203325"/>
            <a:ext cx="5212080" cy="5230495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6630" y="1271905"/>
            <a:ext cx="5064125" cy="3824605"/>
          </a:xfrm>
          <a:prstGeom prst="rect">
            <a:avLst/>
          </a:prstGeom>
        </p:spPr>
      </p:pic>
      <p:sp>
        <p:nvSpPr>
          <p:cNvPr id="38" name="AutoShape 25"/>
          <p:cNvSpPr/>
          <p:nvPr>
            <p:custDataLst>
              <p:tags r:id="rId4"/>
            </p:custDataLst>
          </p:nvPr>
        </p:nvSpPr>
        <p:spPr>
          <a:xfrm>
            <a:off x="1015365" y="5748020"/>
            <a:ext cx="5025390" cy="403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函数级批量任务（结果摘要）</a:t>
            </a:r>
            <a:endParaRPr lang="zh-CN" altLang="en-US" b="1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4" name="AutoShape 19"/>
          <p:cNvSpPr/>
          <p:nvPr>
            <p:custDataLst>
              <p:tags r:id="rId5"/>
            </p:custDataLst>
          </p:nvPr>
        </p:nvSpPr>
        <p:spPr>
          <a:xfrm>
            <a:off x="6234430" y="1203325"/>
            <a:ext cx="5212080" cy="5230495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25"/>
          <p:cNvSpPr/>
          <p:nvPr>
            <p:custDataLst>
              <p:tags r:id="rId6"/>
            </p:custDataLst>
          </p:nvPr>
        </p:nvSpPr>
        <p:spPr>
          <a:xfrm>
            <a:off x="6366510" y="5748020"/>
            <a:ext cx="5025390" cy="403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函数级批量任务（实验指标）</a:t>
            </a:r>
            <a:endParaRPr lang="zh-CN" altLang="en-US" b="1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366510" y="1308735"/>
            <a:ext cx="4918710" cy="395922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49657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05 系统测试 - 实验评估</a:t>
            </a:r>
            <a:r>
              <a:rPr lang="zh-CN" alt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（类文件级）</a:t>
            </a:r>
            <a:endParaRPr lang="zh-CN" altLang="en-US" sz="3200" b="1" i="0" u="none" strike="noStrike">
              <a:solidFill>
                <a:srgbClr val="0052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"/>
            </p:custDataLst>
          </p:nvPr>
        </p:nvSpPr>
        <p:spPr>
          <a:xfrm>
            <a:off x="883285" y="1203325"/>
            <a:ext cx="5212080" cy="5230495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25"/>
          <p:cNvSpPr/>
          <p:nvPr>
            <p:custDataLst>
              <p:tags r:id="rId2"/>
            </p:custDataLst>
          </p:nvPr>
        </p:nvSpPr>
        <p:spPr>
          <a:xfrm>
            <a:off x="1015365" y="5748020"/>
            <a:ext cx="5025390" cy="403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类文件级批量任务（结果摘要）</a:t>
            </a:r>
            <a:endParaRPr lang="zh-CN" altLang="en-US" b="1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4" name="AutoShape 19"/>
          <p:cNvSpPr/>
          <p:nvPr>
            <p:custDataLst>
              <p:tags r:id="rId3"/>
            </p:custDataLst>
          </p:nvPr>
        </p:nvSpPr>
        <p:spPr>
          <a:xfrm>
            <a:off x="6234430" y="1203325"/>
            <a:ext cx="5212080" cy="5230495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25"/>
          <p:cNvSpPr/>
          <p:nvPr>
            <p:custDataLst>
              <p:tags r:id="rId4"/>
            </p:custDataLst>
          </p:nvPr>
        </p:nvSpPr>
        <p:spPr>
          <a:xfrm>
            <a:off x="6366510" y="5748020"/>
            <a:ext cx="5025390" cy="403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类文件级批量任务（实验指标）</a:t>
            </a:r>
            <a:endParaRPr lang="zh-CN" altLang="en-US" b="1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85" y="1308735"/>
            <a:ext cx="5081270" cy="41008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510" y="1308735"/>
            <a:ext cx="5025390" cy="404812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47752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32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系统测试 - 实验评估</a:t>
            </a:r>
            <a:r>
              <a:rPr lang="zh-CN" alt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（文件级）</a:t>
            </a:r>
            <a:endParaRPr lang="zh-CN" altLang="en-US" sz="3200" b="1" i="0" u="none" strike="noStrike">
              <a:solidFill>
                <a:srgbClr val="0052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"/>
            </p:custDataLst>
          </p:nvPr>
        </p:nvSpPr>
        <p:spPr>
          <a:xfrm>
            <a:off x="883285" y="1203325"/>
            <a:ext cx="5212080" cy="5230495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25"/>
          <p:cNvSpPr/>
          <p:nvPr>
            <p:custDataLst>
              <p:tags r:id="rId2"/>
            </p:custDataLst>
          </p:nvPr>
        </p:nvSpPr>
        <p:spPr>
          <a:xfrm>
            <a:off x="1015365" y="5748020"/>
            <a:ext cx="5025390" cy="403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文件级批量任务（结果摘要）</a:t>
            </a:r>
            <a:endParaRPr lang="zh-CN" altLang="en-US" b="1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4" name="AutoShape 19"/>
          <p:cNvSpPr/>
          <p:nvPr>
            <p:custDataLst>
              <p:tags r:id="rId3"/>
            </p:custDataLst>
          </p:nvPr>
        </p:nvSpPr>
        <p:spPr>
          <a:xfrm>
            <a:off x="6234430" y="1203325"/>
            <a:ext cx="5212080" cy="5230495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25"/>
          <p:cNvSpPr/>
          <p:nvPr>
            <p:custDataLst>
              <p:tags r:id="rId4"/>
            </p:custDataLst>
          </p:nvPr>
        </p:nvSpPr>
        <p:spPr>
          <a:xfrm>
            <a:off x="6366510" y="5748020"/>
            <a:ext cx="5025390" cy="403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文件级批量任务（实验指标）</a:t>
            </a:r>
            <a:endParaRPr lang="zh-CN" altLang="en-US" b="1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15365" y="1308735"/>
            <a:ext cx="5012690" cy="40284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316345" y="1318895"/>
            <a:ext cx="5075555" cy="40817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06 总结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085715" cy="2126615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1905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01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905000" y="1968500"/>
            <a:ext cx="381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设计并实现了一个完整的代码生成与自修复系统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成功将代码生成、测试执行、反馈分析和多轮修复整合到一个可视化平台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223000" y="1651000"/>
            <a:ext cx="5207000" cy="2126615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477000" y="1905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7366000" y="1968500"/>
            <a:ext cx="381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构建了基于执行反馈的修复闭环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解决了生成代码“看起来正确但无法运行”的痛点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。</a:t>
            </a:r>
            <a:endParaRPr lang="zh-CN" alt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62000" y="4291330"/>
            <a:ext cx="5085080" cy="212217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1016000" y="4445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04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1905000" y="4508500"/>
            <a:ext cx="381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验证了核心技术路线的可行性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多组对照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的</a:t>
            </a: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系统测试与量化实验评估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。</a:t>
            </a:r>
            <a:endParaRPr lang="zh-CN" alt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6" name="AutoShape 10"/>
          <p:cNvSpPr/>
          <p:nvPr>
            <p:custDataLst>
              <p:tags r:id="rId10"/>
            </p:custDataLst>
          </p:nvPr>
        </p:nvSpPr>
        <p:spPr>
          <a:xfrm>
            <a:off x="6223000" y="4291330"/>
            <a:ext cx="5207000" cy="212217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1"/>
          <p:cNvSpPr/>
          <p:nvPr>
            <p:custDataLst>
              <p:tags r:id="rId11"/>
            </p:custDataLst>
          </p:nvPr>
        </p:nvSpPr>
        <p:spPr>
          <a:xfrm>
            <a:off x="6477000" y="4445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529B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03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AutoShape 12"/>
          <p:cNvSpPr/>
          <p:nvPr>
            <p:custDataLst>
              <p:tags r:id="rId12"/>
            </p:custDataLst>
          </p:nvPr>
        </p:nvSpPr>
        <p:spPr>
          <a:xfrm>
            <a:off x="7366000" y="4508500"/>
            <a:ext cx="381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提供了可追溯的修复过程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引入版本管理机制、运行日志记录和修复计划展示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。</a:t>
            </a:r>
            <a:endParaRPr lang="zh-CN" alt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9" name="右箭头 18"/>
          <p:cNvSpPr/>
          <p:nvPr>
            <p:custDataLst>
              <p:tags r:id="rId13"/>
            </p:custDataLst>
          </p:nvPr>
        </p:nvSpPr>
        <p:spPr>
          <a:xfrm>
            <a:off x="5851525" y="2691130"/>
            <a:ext cx="367030" cy="2444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>
            <p:custDataLst>
              <p:tags r:id="rId14"/>
            </p:custDataLst>
          </p:nvPr>
        </p:nvSpPr>
        <p:spPr>
          <a:xfrm rot="10800000">
            <a:off x="5857240" y="5089525"/>
            <a:ext cx="367030" cy="2444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>
            <p:custDataLst>
              <p:tags r:id="rId15"/>
            </p:custDataLst>
          </p:nvPr>
        </p:nvSpPr>
        <p:spPr>
          <a:xfrm>
            <a:off x="8629015" y="3777615"/>
            <a:ext cx="314325" cy="51562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Noto Sans SC" panose="020B0200000000000000" charset="-122"/>
              </a:rPr>
              <a:t>06</a:t>
            </a:r>
            <a:r>
              <a:rPr lang="en-US" sz="3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存在问题与未来展望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58290" y="1905000"/>
            <a:ext cx="381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存在问题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338580" y="2730500"/>
            <a:ext cx="424942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模型能力依赖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修复效果高度依赖底层大语言模型的能力</a:t>
            </a:r>
            <a:endParaRPr 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339215" y="3873500"/>
            <a:ext cx="424878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修复能力局限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对于复杂的和多文件深度依赖的场景</a:t>
            </a:r>
            <a:endParaRPr 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338580" y="5016500"/>
            <a:ext cx="424942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执行环境开销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使用</a:t>
            </a:r>
            <a:r>
              <a:rPr lang="en-US" sz="1300" b="0" i="0" u="none" strike="noStrike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 panose="020B0200000000000000" charset="-122"/>
              </a:rPr>
              <a:t>Docker</a:t>
            </a: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等强隔离容器环境运行代码，</a:t>
            </a:r>
            <a:endParaRPr 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会增加任务执行的时间与资源开销。</a:t>
            </a:r>
            <a:endParaRPr lang="en-US" sz="13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1477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018655" y="1917700"/>
            <a:ext cx="4234815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9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未来改进方向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018020" y="27305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优化修复策略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探索更先进的错误分析算法</a:t>
            </a:r>
            <a:endParaRPr lang="en-US" sz="12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602470" y="27305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增强代码理解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引入更精细的程序分析技术</a:t>
            </a:r>
            <a:endParaRPr lang="en-US" sz="12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018655" y="42545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扩展支持范围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扩展支持复杂的类定义与</a:t>
            </a:r>
            <a:endParaRPr lang="en-US" sz="12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多文件项目。</a:t>
            </a:r>
            <a:endParaRPr lang="en-US" sz="12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602470" y="42545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提升系统性能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优化代码执行沙箱架构</a:t>
            </a:r>
            <a:endParaRPr lang="en-US" sz="12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5987415" y="3550285"/>
            <a:ext cx="415290" cy="4591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" y="0"/>
            <a:ext cx="995680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致 谢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4107815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感谢我的指导老师黄江平讲师的悉心指导！</a:t>
            </a:r>
            <a:endParaRPr lang="en-US" sz="20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500761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感谢各位评委老师的宝贵时间和建议！</a:t>
            </a:r>
            <a:endParaRPr lang="en-US" sz="20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558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zh-CN" altLang="en-US" sz="1100"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9540"/>
            <a:ext cx="1727200" cy="11442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380" y="129540"/>
            <a:ext cx="1023620" cy="1017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2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3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4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5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6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7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8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9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10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11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12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13.xml><?xml version="1.0" encoding="utf-8"?>
<p:tagLst xmlns:p="http://schemas.openxmlformats.org/presentationml/2006/main">
  <p:tag name="KSO_WM_DIAGRAM_VIRTUALLY_FRAME" val="{&quot;height&quot;:491.5,&quot;left&quot;:60,&quot;top&quot;:22.5,&quot;width&quot;:840}"/>
</p:tagLst>
</file>

<file path=ppt/tags/tag14.xml><?xml version="1.0" encoding="utf-8"?>
<p:tagLst xmlns:p="http://schemas.openxmlformats.org/presentationml/2006/main">
  <p:tag name="KSO_WM_DIAGRAM_VIRTUALLY_FRAME" val="{&quot;height&quot;:280,&quot;left&quot;:60,&quot;top&quot;:230,&quot;width&quot;:420}"/>
</p:tagLst>
</file>

<file path=ppt/tags/tag15.xml><?xml version="1.0" encoding="utf-8"?>
<p:tagLst xmlns:p="http://schemas.openxmlformats.org/presentationml/2006/main">
  <p:tag name="KSO_WM_DIAGRAM_VIRTUALLY_FRAME" val="{&quot;height&quot;:280,&quot;left&quot;:60,&quot;top&quot;:230,&quot;width&quot;:420}"/>
</p:tagLst>
</file>

<file path=ppt/tags/tag16.xml><?xml version="1.0" encoding="utf-8"?>
<p:tagLst xmlns:p="http://schemas.openxmlformats.org/presentationml/2006/main">
  <p:tag name="KSO_WM_DIAGRAM_VIRTUALLY_FRAME" val="{&quot;height&quot;:280,&quot;left&quot;:60,&quot;top&quot;:230,&quot;width&quot;:420}"/>
</p:tagLst>
</file>

<file path=ppt/tags/tag17.xml><?xml version="1.0" encoding="utf-8"?>
<p:tagLst xmlns:p="http://schemas.openxmlformats.org/presentationml/2006/main">
  <p:tag name="KSO_WM_DIAGRAM_VIRTUALLY_FRAME" val="{&quot;height&quot;:280,&quot;left&quot;:60,&quot;top&quot;:230,&quot;width&quot;:420}"/>
</p:tagLst>
</file>

<file path=ppt/tags/tag18.xml><?xml version="1.0" encoding="utf-8"?>
<p:tagLst xmlns:p="http://schemas.openxmlformats.org/presentationml/2006/main">
  <p:tag name="KSO_WM_DIAGRAM_VIRTUALLY_FRAME" val="{&quot;height&quot;:280,&quot;left&quot;:60,&quot;top&quot;:230,&quot;width&quot;:420}"/>
</p:tagLst>
</file>

<file path=ppt/tags/tag19.xml><?xml version="1.0" encoding="utf-8"?>
<p:tagLst xmlns:p="http://schemas.openxmlformats.org/presentationml/2006/main">
  <p:tag name="KSO_WM_DIAGRAM_VIRTUALLY_FRAME" val="{&quot;height&quot;:280,&quot;left&quot;:60,&quot;top&quot;:230,&quot;width&quot;:420}"/>
</p:tagLst>
</file>

<file path=ppt/tags/tag20.xml><?xml version="1.0" encoding="utf-8"?>
<p:tagLst xmlns:p="http://schemas.openxmlformats.org/presentationml/2006/main">
  <p:tag name="KSO_WM_DIAGRAM_VIRTUALLY_FRAME" val="{&quot;height&quot;:280,&quot;left&quot;:60,&quot;top&quot;:230,&quot;width&quot;:420}"/>
</p:tagLst>
</file>

<file path=ppt/tags/tag21.xml><?xml version="1.0" encoding="utf-8"?>
<p:tagLst xmlns:p="http://schemas.openxmlformats.org/presentationml/2006/main">
  <p:tag name="KSO_WM_DIAGRAM_VIRTUALLY_FRAME" val="{&quot;height&quot;:280,&quot;left&quot;:60,&quot;top&quot;:230,&quot;width&quot;:420}"/>
</p:tagLst>
</file>

<file path=ppt/tags/tag22.xml><?xml version="1.0" encoding="utf-8"?>
<p:tagLst xmlns:p="http://schemas.openxmlformats.org/presentationml/2006/main">
  <p:tag name="KSO_WM_DIAGRAM_VIRTUALLY_FRAME" val="{&quot;height&quot;:165,&quot;left&quot;:60,&quot;top&quot;:320,&quot;width&quot;:880}"/>
</p:tagLst>
</file>

<file path=ppt/tags/tag23.xml><?xml version="1.0" encoding="utf-8"?>
<p:tagLst xmlns:p="http://schemas.openxmlformats.org/presentationml/2006/main">
  <p:tag name="KSO_WM_DIAGRAM_VIRTUALLY_FRAME" val="{&quot;height&quot;:165,&quot;left&quot;:60,&quot;top&quot;:320,&quot;width&quot;:880}"/>
</p:tagLst>
</file>

<file path=ppt/tags/tag24.xml><?xml version="1.0" encoding="utf-8"?>
<p:tagLst xmlns:p="http://schemas.openxmlformats.org/presentationml/2006/main">
  <p:tag name="KSO_WM_DIAGRAM_VIRTUALLY_FRAME" val="{&quot;height&quot;:165,&quot;left&quot;:60,&quot;top&quot;:320,&quot;width&quot;:880}"/>
</p:tagLst>
</file>

<file path=ppt/tags/tag25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26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27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28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29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30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31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32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33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34.xml><?xml version="1.0" encoding="utf-8"?>
<p:tagLst xmlns:p="http://schemas.openxmlformats.org/presentationml/2006/main">
  <p:tag name="KSO_WM_DIAGRAM_VIRTUALLY_FRAME" val="{&quot;height&quot;:413.3,&quot;left&quot;:60,&quot;top&quot;:103.35,&quot;width&quot;:840}"/>
</p:tagLst>
</file>

<file path=ppt/tags/tag35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36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37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38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39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0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1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2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3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4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5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6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7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8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49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50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51.xml><?xml version="1.0" encoding="utf-8"?>
<p:tagLst xmlns:p="http://schemas.openxmlformats.org/presentationml/2006/main">
  <p:tag name="KSO_WM_DIAGRAM_VIRTUALLY_FRAME" val="{&quot;height&quot;:386.1,&quot;left&quot;:60,&quot;top&quot;:139.7,&quot;width&quot;:840}"/>
</p:tagLst>
</file>

<file path=ppt/tags/tag52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53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54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55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56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57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58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59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0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1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2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3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4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5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6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7.xml><?xml version="1.0" encoding="utf-8"?>
<p:tagLst xmlns:p="http://schemas.openxmlformats.org/presentationml/2006/main">
  <p:tag name="KSO_WM_DIAGRAM_VIRTUALLY_FRAME" val="{&quot;height&quot;:411.85,&quot;left&quot;:4.15,&quot;top&quot;:94.75,&quot;width&quot;:950}"/>
</p:tagLst>
</file>

<file path=ppt/tags/tag68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69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0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1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2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3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4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5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6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7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8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79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80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81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ags/tag82.xml><?xml version="1.0" encoding="utf-8"?>
<p:tagLst xmlns:p="http://schemas.openxmlformats.org/presentationml/2006/main">
  <p:tag name="KSO_WM_DIAGRAM_VIRTUALLY_FRAME" val="{&quot;height&quot;:375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2186</Words>
  <Application>WPS 演示</Application>
  <PresentationFormat/>
  <Paragraphs>263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Times New Roman</vt:lpstr>
      <vt:lpstr>微软雅黑</vt:lpstr>
      <vt:lpstr>Poppins</vt:lpstr>
      <vt:lpstr>FFont-Family</vt:lpstr>
      <vt:lpstr>等线</vt:lpstr>
      <vt:lpstr>Arial Unicode MS</vt:lpstr>
      <vt:lpstr>Poppins</vt:lpstr>
      <vt:lpstr>Office 主题​​</vt:lpstr>
      <vt:lpstr>默认主题</vt:lpstr>
      <vt:lpstr>1_默认主题</vt:lpstr>
      <vt:lpstr>4_默认主题</vt:lpstr>
      <vt:lpstr>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唐颢</cp:lastModifiedBy>
  <cp:revision>85</cp:revision>
  <dcterms:created xsi:type="dcterms:W3CDTF">2026-05-10T06:44:00Z</dcterms:created>
  <dcterms:modified xsi:type="dcterms:W3CDTF">2026-05-11T07:47:28Z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2FA7BDFB36D74185AE379A23D0EF532D_13</vt:lpwstr>
  </property>
  <property fmtid="{D5CDD505-2E9C-101B-9397-08002B2CF9AE}" pid="3" name="KSOProductBuildVer">
    <vt:lpwstr>2052-12.1.0.25865</vt:lpwstr>
  </property>
</Properties>
</file>